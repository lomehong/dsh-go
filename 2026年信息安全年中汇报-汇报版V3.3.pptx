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71" r:id="Re79cda70bfbd46d3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7.xml" Id="rId9" /><Relationship Type="http://schemas.openxmlformats.org/officeDocument/2006/relationships/slide" Target="slides/slide6.xml" Id="rId8" /><Relationship Type="http://schemas.openxmlformats.org/officeDocument/2006/relationships/slide" Target="slides/slide5.xml" Id="rId7" /><Relationship Type="http://schemas.openxmlformats.org/officeDocument/2006/relationships/slide" Target="slides/slide4.xml" Id="rId6" /><Relationship Type="http://schemas.openxmlformats.org/officeDocument/2006/relationships/slide" Target="slides/slide3.xml" Id="rId5" /><Relationship Type="http://schemas.openxmlformats.org/officeDocument/2006/relationships/slide" Target="slides/slide2.xml" Id="rId4" /><Relationship Type="http://schemas.openxmlformats.org/officeDocument/2006/relationships/slide" Target="slides/slide1.xml" Id="rId3" /><Relationship Type="http://schemas.openxmlformats.org/officeDocument/2006/relationships/tableStyles" Target="tableStyles.xml" Id="rId20" /><Relationship Type="http://schemas.openxmlformats.org/officeDocument/2006/relationships/theme" Target="theme/theme1.xml" Id="rId2" /><Relationship Type="http://schemas.openxmlformats.org/officeDocument/2006/relationships/viewProps" Target="viewProps.xml" Id="rId19" /><Relationship Type="http://schemas.openxmlformats.org/officeDocument/2006/relationships/presProps" Target="presProps.xml" Id="rId18" /><Relationship Type="http://schemas.openxmlformats.org/officeDocument/2006/relationships/slide" Target="slides/slide15.xml" Id="rId17" /><Relationship Type="http://schemas.openxmlformats.org/officeDocument/2006/relationships/slide" Target="slides/slide14.xml" Id="rId16" /><Relationship Type="http://schemas.openxmlformats.org/officeDocument/2006/relationships/slide" Target="slides/slide13.xml" Id="rId15" /><Relationship Type="http://schemas.openxmlformats.org/officeDocument/2006/relationships/slide" Target="slides/slide12.xml" Id="rId14" /><Relationship Type="http://schemas.openxmlformats.org/officeDocument/2006/relationships/slide" Target="slides/slide11.xml" Id="rId13" /><Relationship Type="http://schemas.openxmlformats.org/officeDocument/2006/relationships/slide" Target="slides/slide10.xml" Id="rId12" /><Relationship Type="http://schemas.openxmlformats.org/officeDocument/2006/relationships/slide" Target="slides/slide9.xml" Id="rId11" /><Relationship Type="http://schemas.openxmlformats.org/officeDocument/2006/relationships/slide" Target="slides/slide8.xml" Id="rId10" /><Relationship Type="http://schemas.openxmlformats.org/officeDocument/2006/relationships/slideMaster" Target="slideMasters/slideMaster1.xml" Id="rId1" /><Relationship Type="http://schemas.openxmlformats.org/officeDocument/2006/relationships/slide" Target="/ppt/slides/slide16.xml" Id="Re79cda70bfbd46d3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baad2a9cb243c8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AI-SEC-MID-2026   ·   V3.0   ·   内部机密</a:t>
            </a:r>
            <a:endParaRPr sz="12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82296" cy="2377440"/>
          </a:xfrm>
          <a:prstGeom prst="rect">
            <a:avLst/>
          </a:prstGeom>
          <a:solidFill>
            <a:srgbClr val="6F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100584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48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信息安全年中汇报</a:t>
            </a:r>
            <a:endParaRPr sz="48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H1 成果 · 风险敞口 · H2 资源与决策请求</a:t>
            </a:r>
            <a:endParaRPr sz="2000" b="0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8720" y="44805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汇报：信息安全部    时间：2026 年 7 月    对象：信息安全委员会 / 经营管理层</a:t>
            </a:r>
            <a:endParaRPr sz="13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88720" y="5120640"/>
            <a:ext cx="2468880" cy="100584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2578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27.5% → 60%</a:t>
            </a:r>
            <a:endParaRPr sz="20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574243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综合安全水位（四维平均）</a:t>
            </a:r>
            <a:endParaRPr sz="11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931920" y="5120640"/>
            <a:ext cx="2468880" cy="100584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52578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0 起</a:t>
            </a:r>
            <a:endParaRPr sz="20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4800" y="574243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重大安全事件</a:t>
            </a:r>
            <a:endParaRPr sz="11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675120" y="5120640"/>
            <a:ext cx="2468880" cy="100584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52578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0A832"/>
                </a:solidFill>
                <a:latin typeface="微软雅黑" panose="020B0503020204020204" charset="-122"/>
                <a:ea typeface="微软雅黑" panose="020B0503020204020204" charset="-122"/>
              </a:rPr>
              <a:t>3 项</a:t>
            </a:r>
            <a:endParaRPr sz="2000" b="1">
              <a:solidFill>
                <a:srgbClr val="F0A8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0" y="574243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需管理层决策事项</a:t>
            </a:r>
            <a:endParaRPr sz="11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EXECUTIVE SUMMARY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执行摘要：一页看懂上半年</a:t>
            </a:r>
            <a:endParaRPr sz="26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结论先行 · 以下每页展开一个结论</a:t>
            </a:r>
            <a:endParaRPr sz="12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32918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200" b="1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AI-SEC-MID-2026  |  信息安全年中汇报 · 高管版</a:t>
            </a:r>
            <a:endParaRPr sz="9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2EB57A"/>
                </a:solidFill>
                <a:latin typeface="微软雅黑" panose="020B0503020204020204" charset="-122"/>
                <a:ea typeface="微软雅黑" panose="020B0503020204020204" charset="-122"/>
              </a:rPr>
              <a:t>H1 交付了什么</a:t>
            </a:r>
            <a:endParaRPr sz="1400" b="1">
              <a:solidFill>
                <a:srgbClr val="2EB5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51206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▸ 三大战役全部按期交付：API 安全 / 终端 DLP / AI 智能体治理</a:t>
            </a:r>
            <a:endParaRPr sz="1250" b="0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▸ 综合安全水位 27.5% → 60%（四维平均），提升 32.5 个百分点</a:t>
            </a:r>
            <a:endParaRPr sz="1250" b="0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▸ H1 期间零重大安全事件、零监管处罚</a:t>
            </a:r>
            <a:endParaRPr sz="1250" b="0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▸ 自研 EACP 治理协议 + OpenClaw 平台，业内首个落地实现</a:t>
            </a:r>
            <a:endParaRPr sz="1250" b="0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E0396B"/>
                </a:solidFill>
                <a:latin typeface="微软雅黑" panose="020B0503020204020204" charset="-122"/>
                <a:ea typeface="微软雅黑" panose="020B0503020204020204" charset="-122"/>
              </a:rPr>
              <a:t>面临什么风险</a:t>
            </a:r>
            <a:endParaRPr sz="1400" b="1">
              <a:solidFill>
                <a:srgbClr val="E039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51206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▸ AI 智能体攻击面增速超过防御建设速度（行业共性）</a:t>
            </a:r>
            <a:endParaRPr sz="1250" b="0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▸ 数据跨境 / 跨域合规要求持续收紧（个保法 / GDPR）</a:t>
            </a:r>
            <a:endParaRPr sz="1250" b="0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▸ 若不持续投入，年度潜在损失敞口 1000-5000 万量级</a:t>
            </a:r>
            <a:endParaRPr sz="1250" b="0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▸ 详细威胁分析与损失测算见附录 A / B</a:t>
            </a:r>
            <a:endParaRPr sz="11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402336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资源策略</a:t>
            </a:r>
            <a:endParaRPr sz="14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▸ H2 承诺：不增编制、不增预算</a:t>
            </a:r>
            <a:endParaRPr sz="1250" b="0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▸ 以 AI 杠杆提效：AI 辅助编程 + 智能体运营，DLP 系统 88% 由 AI 辅助完成</a:t>
            </a:r>
            <a:endParaRPr sz="1250" b="0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▸ 6 个里程碑已排期至 2027/Q2</a:t>
            </a:r>
            <a:endParaRPr sz="1250" b="0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72200" y="402336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1B224E"/>
          </a:solidFill>
          <a:ln w="15875">
            <a:solidFill>
              <a:srgbClr val="6F4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2062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0A832"/>
                </a:solidFill>
                <a:latin typeface="微软雅黑" panose="020B0503020204020204" charset="-122"/>
                <a:ea typeface="微软雅黑" panose="020B0503020204020204" charset="-122"/>
              </a:rPr>
              <a:t>需要管理层决策的 3 件事（详见第 11 页）</a:t>
            </a:r>
            <a:endParaRPr sz="1400" b="1">
              <a:solidFill>
                <a:srgbClr val="F0A8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4572000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① AI 智能体纳管强制化：所有 Agent 须经 EACP 注册方可上线</a:t>
            </a:r>
            <a:endParaRPr sz="1250" b="0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② DLP 全员推广节奏确认：Q4 覆盖 1000+ 终端</a:t>
            </a:r>
            <a:endParaRPr sz="1250" b="0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③ H2 优先级确认：新增战役级需求须明确「增编」或「降优先级」</a:t>
            </a:r>
            <a:endParaRPr sz="1250" b="0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STRATEGIC ALIGNMENT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安全不是成本中心，是 AI 原生战略的保险</a:t>
            </a:r>
            <a:endParaRPr sz="26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公司每推进一步 AI 战略，安全能力必须同步到位 —— 这是 H1 一切工作的出发点</a:t>
            </a:r>
            <a:endParaRPr sz="12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32918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200" b="1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AI-SEC-MID-2026  |  信息安全年中汇报 · 高管版</a:t>
            </a:r>
            <a:endParaRPr sz="9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64592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公司使命 / 愿景</a:t>
            </a:r>
            <a:endParaRPr sz="12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让 AI 守护人生幸福 · 成为 AI 原生组织</a:t>
            </a:r>
            <a:endParaRPr sz="15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06440" y="201168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6F4BFF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400" b="1">
              <a:solidFill>
                <a:srgbClr val="6F4B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537960" y="164592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6F4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78308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6F4BFF"/>
                </a:solidFill>
                <a:latin typeface="微软雅黑" panose="020B0503020204020204" charset="-122"/>
                <a:ea typeface="微软雅黑" panose="020B0503020204020204" charset="-122"/>
              </a:rPr>
              <a:t>安全使命（承接）</a:t>
            </a:r>
            <a:endParaRPr sz="1200" b="1">
              <a:solidFill>
                <a:srgbClr val="6F4B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32004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2026 三大必赢之战 · H1 进展速览</a:t>
            </a:r>
            <a:endParaRPr sz="14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3611880"/>
            <a:ext cx="11155680" cy="713232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58184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01  API 安全</a:t>
            </a:r>
            <a:endParaRPr sz="14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66160" y="379476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给系统间装监控探头</a:t>
            </a:r>
            <a:endParaRPr sz="115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9280" y="379476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资产可见率 20%→85% · 检出从月级→小时级</a:t>
            </a:r>
            <a:endParaRPr sz="1200" b="0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0698480" y="3767328"/>
            <a:ext cx="777240" cy="402336"/>
          </a:xfrm>
          <a:prstGeom prst="roundRect">
            <a:avLst>
              <a:gd name="adj" fmla="val 6000"/>
            </a:avLst>
          </a:prstGeom>
          <a:solidFill>
            <a:srgbClr val="2EB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0" rIns="5080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按期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4453128"/>
            <a:ext cx="11155680" cy="713232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599432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02  终端 DLP</a:t>
            </a:r>
            <a:endParaRPr sz="14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66160" y="463600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给每台电脑装隐形守护</a:t>
            </a:r>
            <a:endParaRPr sz="115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69280" y="4636008"/>
            <a:ext cx="448056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自研开发 88% · 拦截能力</a:t>
            </a:r>
            <a:r>
              <a:rPr lang="zh-CN" sz="1200" b="0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摆脱外部厂商</a:t>
            </a:r>
            <a:endParaRPr lang="zh-CN" sz="1200" b="0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0698480" y="4608576"/>
            <a:ext cx="777240" cy="402336"/>
          </a:xfrm>
          <a:prstGeom prst="roundRect">
            <a:avLst>
              <a:gd name="adj" fmla="val 6000"/>
            </a:avLst>
          </a:prstGeom>
          <a:solidFill>
            <a:srgbClr val="2EB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0" rIns="5080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按期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2920" y="5294376"/>
            <a:ext cx="11155680" cy="713232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44068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03  AI 智能体治理</a:t>
            </a:r>
            <a:endParaRPr sz="14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66160" y="547725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给 AI 立规矩</a:t>
            </a:r>
            <a:endParaRPr sz="115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669280" y="5477256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EACP v1.0 发布 · 智能体纳管率 0→70%+</a:t>
            </a:r>
            <a:endParaRPr sz="1200" b="0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0698480" y="5449824"/>
            <a:ext cx="777240" cy="402336"/>
          </a:xfrm>
          <a:prstGeom prst="roundRect">
            <a:avLst>
              <a:gd name="adj" fmla="val 6000"/>
            </a:avLst>
          </a:prstGeom>
          <a:solidFill>
            <a:srgbClr val="2EB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0" rIns="5080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超前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2920" y="61722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一句话：AI 原生组织跑得再快，安全这条「保险带」必须先系好 —— H1 已系好，H2 要加固。</a:t>
            </a:r>
            <a:endParaRPr sz="1250" b="1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13"/>
          <p:cNvSpPr txBox="1"/>
          <p:nvPr/>
        </p:nvSpPr>
        <p:spPr>
          <a:xfrm>
            <a:off x="6812280" y="2066543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使命  构建全方位 AI 安全防护体系，护航公司业务智能化转型</a:t>
            </a:r>
            <a:endParaRPr sz="115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愿景  主动防御 · 智能响应 · 合规可控 · 成为 AI 原生组织的安全基石</a:t>
            </a:r>
            <a:endParaRPr sz="115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BATTLE 01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战役一：API 安全 —— 数据流动从「黑盒」到「透明」</a:t>
            </a:r>
            <a:endParaRPr sz="26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业务价值：每一笔数据流动可见、可查、可追溯，这是所有 AI 业务数据流转监管的前提</a:t>
            </a:r>
            <a:endParaRPr sz="12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32918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200" b="1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AI-SEC-MID-2026  |  信息安全年中汇报 · 高管版</a:t>
            </a:r>
            <a:endParaRPr sz="9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3977639" cy="301752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190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E0396B"/>
                </a:solidFill>
                <a:latin typeface="微软雅黑" panose="020B0503020204020204" charset="-122"/>
                <a:ea typeface="微软雅黑" panose="020B0503020204020204" charset="-122"/>
              </a:rPr>
              <a:t>BEFORE · 年初现状</a:t>
            </a:r>
            <a:endParaRPr sz="1250" b="1">
              <a:solidFill>
                <a:srgbClr val="E039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121408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不知道有哪些 API 接口在用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39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不知道敏感数据流向哪里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3090672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泄露平均 1-3 个月才发现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3575304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出事无法溯源到具体接口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4059936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跨境 / 越权流动完全不可见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0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6F4BFF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000" b="1">
              <a:solidFill>
                <a:srgbClr val="6F4B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983480" y="1554480"/>
            <a:ext cx="3977639" cy="301752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EB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17190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EB57A"/>
                </a:solidFill>
                <a:latin typeface="微软雅黑" panose="020B0503020204020204" charset="-122"/>
                <a:ea typeface="微软雅黑" panose="020B0503020204020204" charset="-122"/>
              </a:rPr>
              <a:t>AFTER · H1 成果</a:t>
            </a:r>
            <a:endParaRPr sz="1250" b="1">
              <a:solidFill>
                <a:srgbClr val="2EB5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12080" y="2121408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全量 API 资产清单 + 责任人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12080" y="2606039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敏感字段自动识别 + 分级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12080" y="3090672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数据流转图谱可视化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12080" y="3575304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异常行为实时告警（规则 + 基线）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12080" y="4059936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跨境 / 越权流动自动标识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47548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关键指标 before → after</a:t>
            </a:r>
            <a:endParaRPr sz="13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2920" y="5120640"/>
            <a:ext cx="3611880" cy="1097280"/>
          </a:xfrm>
          <a:prstGeom prst="roundRect">
            <a:avLst>
              <a:gd name="adj" fmla="val 6000"/>
            </a:avLst>
          </a:prstGeom>
          <a:solidFill>
            <a:srgbClr val="1B224E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23036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API 资产可见率</a:t>
            </a:r>
            <a:endParaRPr sz="11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548640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20%  →  </a:t>
            </a:r>
            <a:r>
              <a:rPr sz="1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85%</a:t>
            </a:r>
            <a:endParaRPr sz="1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590702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全公司 API 接口已建档</a:t>
            </a:r>
            <a:endParaRPr sz="95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279392" y="5120640"/>
            <a:ext cx="3611880" cy="1097280"/>
          </a:xfrm>
          <a:prstGeom prst="roundRect">
            <a:avLst>
              <a:gd name="adj" fmla="val 6000"/>
            </a:avLst>
          </a:prstGeom>
          <a:solidFill>
            <a:srgbClr val="1B224E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2272" y="523036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平均检出时间 MTTD</a:t>
            </a:r>
            <a:endParaRPr sz="11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462272" y="548640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月级  →  </a:t>
            </a:r>
            <a:r>
              <a:rPr sz="1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小时级</a:t>
            </a:r>
            <a:endParaRPr sz="1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62272" y="590702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95% 敏感数据流动小时级发现</a:t>
            </a:r>
            <a:endParaRPr sz="95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055864" y="5120640"/>
            <a:ext cx="3611880" cy="1097280"/>
          </a:xfrm>
          <a:prstGeom prst="roundRect">
            <a:avLst>
              <a:gd name="adj" fmla="val 6000"/>
            </a:avLst>
          </a:prstGeom>
          <a:solidFill>
            <a:srgbClr val="1B224E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38744" y="523036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溯源成功率</a:t>
            </a:r>
            <a:endParaRPr sz="11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38744" y="548640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30%  →  </a:t>
            </a:r>
            <a:r>
              <a:rPr sz="1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80%</a:t>
            </a:r>
            <a:endParaRPr sz="1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38744" y="590702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出事后能追到具体接口 / 系统</a:t>
            </a:r>
            <a:endParaRPr sz="95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0A832"/>
                </a:solidFill>
                <a:latin typeface="微软雅黑" panose="020B0503020204020204" charset="-122"/>
                <a:ea typeface="微软雅黑" panose="020B0503020204020204" charset="-122"/>
              </a:rPr>
              <a:t>交付：自研 API 数据采集端已上线并完成首批系统接入 · H2 全量覆盖</a:t>
            </a:r>
            <a:endParaRPr sz="1150" b="1">
              <a:solidFill>
                <a:srgbClr val="F0A8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BATTLE 02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战役二：终端 DLP —— 数据出门，瞬间拦截 + </a:t>
            </a:r>
            <a:r>
              <a:rPr lang="zh-CN" sz="26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sz="26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留痕</a:t>
            </a:r>
            <a:endParaRPr sz="26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业务价值：源头到出口全链路保护，防内鬼也防失误；客户数据不再「出了门才知道」</a:t>
            </a:r>
            <a:endParaRPr sz="12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32918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200" b="1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AI-SEC-MID-2026  |  信息安全年中汇报 · 高管版</a:t>
            </a:r>
            <a:endParaRPr sz="9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3977639" cy="301752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190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E0396B"/>
                </a:solidFill>
                <a:latin typeface="微软雅黑" panose="020B0503020204020204" charset="-122"/>
                <a:ea typeface="微软雅黑" panose="020B0503020204020204" charset="-122"/>
              </a:rPr>
              <a:t>BEFORE · 年初现状</a:t>
            </a:r>
            <a:endParaRPr sz="1250" b="1">
              <a:solidFill>
                <a:srgbClr val="E039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121408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员工误传客户资料到私人邮箱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39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第二天审计才发现（已晚）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3090672"/>
            <a:ext cx="361188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网盘 / IM 通道</a:t>
            </a:r>
            <a:r>
              <a:rPr lang="zh-CN"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覆盖不足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3575304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截图 / 拍照 / 打印难追溯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4059936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出问题只能靠人工排查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0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6F4BFF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000" b="1">
              <a:solidFill>
                <a:srgbClr val="6F4B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983480" y="1554480"/>
            <a:ext cx="3977639" cy="301752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EB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17190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EB57A"/>
                </a:solidFill>
                <a:latin typeface="微软雅黑" panose="020B0503020204020204" charset="-122"/>
                <a:ea typeface="微软雅黑" panose="020B0503020204020204" charset="-122"/>
              </a:rPr>
              <a:t>AFTER · H1 成果</a:t>
            </a:r>
            <a:endParaRPr sz="1250" b="1">
              <a:solidFill>
                <a:srgbClr val="2EB5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12080" y="2121408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敏感数据自动识别（指纹 + ML）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12080" y="2606039"/>
            <a:ext cx="361188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出门瞬间实时拦截（网盘/邮件）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12080" y="3090672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完整操作留痕（截图/文件/打印）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12080" y="3575304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异常行为分析（批量下载/非工作时间）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12080" y="4059936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风险评分 + 审批流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47548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关键指标 before → after</a:t>
            </a:r>
            <a:endParaRPr sz="13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2920" y="5120640"/>
            <a:ext cx="3611880" cy="1097280"/>
          </a:xfrm>
          <a:prstGeom prst="roundRect">
            <a:avLst>
              <a:gd name="adj" fmla="val 6000"/>
            </a:avLst>
          </a:prstGeom>
          <a:solidFill>
            <a:srgbClr val="1B224E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23036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敏感操作拦截率</a:t>
            </a:r>
            <a:endParaRPr sz="11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548640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60%  →  </a:t>
            </a:r>
            <a:r>
              <a:rPr sz="1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95%</a:t>
            </a:r>
            <a:endParaRPr sz="1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5907024"/>
            <a:ext cx="3291840" cy="146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zh-CN" sz="95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拦截准确率有所提升</a:t>
            </a:r>
            <a:endParaRPr lang="zh-CN" sz="95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279392" y="5120640"/>
            <a:ext cx="3611880" cy="1097280"/>
          </a:xfrm>
          <a:prstGeom prst="roundRect">
            <a:avLst>
              <a:gd name="adj" fmla="val 6000"/>
            </a:avLst>
          </a:prstGeom>
          <a:solidFill>
            <a:srgbClr val="1B224E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2272" y="523036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平均响应时间 MTTR</a:t>
            </a:r>
            <a:endParaRPr sz="11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462272" y="548640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天级  →  </a:t>
            </a:r>
            <a:r>
              <a:rPr sz="1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实时</a:t>
            </a:r>
            <a:endParaRPr sz="1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62272" y="590702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99% 出门瞬间拦截</a:t>
            </a:r>
            <a:endParaRPr sz="95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055864" y="5120640"/>
            <a:ext cx="3611880" cy="1097280"/>
          </a:xfrm>
          <a:prstGeom prst="roundRect">
            <a:avLst>
              <a:gd name="adj" fmla="val 6000"/>
            </a:avLst>
          </a:prstGeom>
          <a:solidFill>
            <a:srgbClr val="1B224E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38744" y="523036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审计追溯能力</a:t>
            </a:r>
            <a:endParaRPr sz="11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38744" y="5486400"/>
            <a:ext cx="329184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zh-CN" sz="16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敏感操作</a:t>
            </a:r>
            <a:r>
              <a:rPr sz="16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  →  </a:t>
            </a:r>
            <a:r>
              <a:rPr sz="1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完整</a:t>
            </a:r>
            <a:endParaRPr sz="1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38744" y="5907024"/>
            <a:ext cx="3291840" cy="146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zh-CN" sz="95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操作行为审计覆盖大幅提升</a:t>
            </a:r>
            <a:endParaRPr lang="zh-CN" sz="95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0A832"/>
                </a:solidFill>
                <a:latin typeface="微软雅黑" panose="020B0503020204020204" charset="-122"/>
                <a:ea typeface="微软雅黑" panose="020B0503020204020204" charset="-122"/>
              </a:rPr>
              <a:t>交付：自研 DLP 系统开发完成 ~88%，AI 辅助编码 + 测试 + UI · Q3 灰度上线</a:t>
            </a:r>
            <a:endParaRPr sz="1150" b="1">
              <a:solidFill>
                <a:srgbClr val="F0A8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BATTLE 03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战役三：AI 智能体治理 —— 从 0 到 1 建立治理基础设施</a:t>
            </a:r>
            <a:endParaRPr sz="26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业务价值：让 AI 在「治理轨道」上运行 —— 公司敢大规模用 AI 的底气来自这里</a:t>
            </a:r>
            <a:endParaRPr sz="12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32918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1200" b="1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AI-SEC-MID-2026  |  信息安全年中汇报 · 高管版</a:t>
            </a:r>
            <a:endParaRPr sz="9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3977639" cy="301752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190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E0396B"/>
                </a:solidFill>
                <a:latin typeface="微软雅黑" panose="020B0503020204020204" charset="-122"/>
                <a:ea typeface="微软雅黑" panose="020B0503020204020204" charset="-122"/>
              </a:rPr>
              <a:t>BEFORE · 年初现状</a:t>
            </a:r>
            <a:endParaRPr sz="1250" b="1">
              <a:solidFill>
                <a:srgbClr val="E039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121408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不知道公司有多少 AI 智能体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39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不知道 AI 在调用什么、访问什么数据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3090672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出事后无审计、无法回溯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3575304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AI 行为没有边界、没有熔断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4059936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没有统一治理标准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0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6F4BFF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000" b="1">
              <a:solidFill>
                <a:srgbClr val="6F4B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983480" y="1554480"/>
            <a:ext cx="3977639" cy="301752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EB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17190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EB57A"/>
                </a:solidFill>
                <a:latin typeface="微软雅黑" panose="020B0503020204020204" charset="-122"/>
                <a:ea typeface="微软雅黑" panose="020B0503020204020204" charset="-122"/>
              </a:rPr>
              <a:t>AFTER · H1 成果</a:t>
            </a:r>
            <a:endParaRPr sz="1250" b="1">
              <a:solidFill>
                <a:srgbClr val="2EB5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12080" y="2121408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EACP 协议 v1.0（16 章治理规范）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12080" y="2606039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Agent Card：智能体身份强制声明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12080" y="3090672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任务生命周期 + 全链路审计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12080" y="3575304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策略引擎 RBAC + ABAC 落地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12080" y="4059936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熔断器 + 跨域治理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47548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关键指标 before → after</a:t>
            </a:r>
            <a:endParaRPr sz="13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2920" y="5120640"/>
            <a:ext cx="3611880" cy="1097280"/>
          </a:xfrm>
          <a:prstGeom prst="roundRect">
            <a:avLst>
              <a:gd name="adj" fmla="val 6000"/>
            </a:avLst>
          </a:prstGeom>
          <a:solidFill>
            <a:srgbClr val="1B224E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23036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AI 智能体纳管率</a:t>
            </a:r>
            <a:endParaRPr sz="11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548640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0%  →  </a:t>
            </a:r>
            <a:r>
              <a:rPr sz="1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70%+</a:t>
            </a:r>
            <a:endParaRPr sz="1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590702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首批智能体已纳入 EACP 治理</a:t>
            </a:r>
            <a:endParaRPr sz="95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279392" y="5120640"/>
            <a:ext cx="3611880" cy="1097280"/>
          </a:xfrm>
          <a:prstGeom prst="roundRect">
            <a:avLst>
              <a:gd name="adj" fmla="val 6000"/>
            </a:avLst>
          </a:prstGeom>
          <a:solidFill>
            <a:srgbClr val="1B224E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2272" y="523036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Skill 安全扫描覆盖</a:t>
            </a:r>
            <a:endParaRPr sz="11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462272" y="548640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0  →  </a:t>
            </a:r>
            <a:r>
              <a:rPr sz="1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1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62272" y="590702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所有 Skill 上线前必经扫描</a:t>
            </a:r>
            <a:endParaRPr sz="95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055864" y="5120640"/>
            <a:ext cx="3611880" cy="1097280"/>
          </a:xfrm>
          <a:prstGeom prst="roundRect">
            <a:avLst>
              <a:gd name="adj" fmla="val 6000"/>
            </a:avLst>
          </a:prstGeom>
          <a:solidFill>
            <a:srgbClr val="1B224E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38744" y="523036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AI 行为可审计</a:t>
            </a:r>
            <a:endParaRPr sz="11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38744" y="548640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无  →  </a:t>
            </a:r>
            <a:r>
              <a:rPr sz="1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完整</a:t>
            </a:r>
            <a:endParaRPr sz="1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38744" y="590702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0→1 突破，业内首个 EACP 实现</a:t>
            </a:r>
            <a:endParaRPr sz="95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0A832"/>
                </a:solidFill>
                <a:latin typeface="微软雅黑" panose="020B0503020204020204" charset="-122"/>
                <a:ea typeface="微软雅黑" panose="020B0503020204020204" charset="-122"/>
              </a:rPr>
              <a:t>交付：EACP 协议 v1.0 + OpenClaw 治理插件（业内首个实现）+ 治理平台</a:t>
            </a:r>
            <a:endParaRPr sz="1150" b="1">
              <a:solidFill>
                <a:srgbClr val="F0A8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RESULTS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安全水位：四维平均提升 32.5 个百分点</a:t>
            </a:r>
            <a:endParaRPr sz="26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识别 / 防御 / 检测 / 响应四维度评估 · 成果口径 = 已交付并运行中的能力，展望目标单独标注</a:t>
            </a:r>
            <a:endParaRPr sz="12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32918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sz="1200" b="1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AI-SEC-MID-2026  |  信息安全年中汇报 · 高管版</a:t>
            </a:r>
            <a:endParaRPr sz="9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64592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识别</a:t>
            </a:r>
            <a:endParaRPr sz="18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知道有什么、谁在用</a:t>
            </a:r>
            <a:endParaRPr sz="11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30%</a:t>
            </a:r>
            <a:r>
              <a:rPr sz="14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  →  </a:t>
            </a:r>
            <a:r>
              <a:rPr sz="26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60%</a:t>
            </a:r>
            <a:endParaRPr sz="26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31520" y="3611880"/>
            <a:ext cx="2194560" cy="201168"/>
          </a:xfrm>
          <a:prstGeom prst="rect">
            <a:avLst/>
          </a:prstGeom>
          <a:solidFill>
            <a:srgbClr val="2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611880"/>
            <a:ext cx="1316736" cy="20116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资产地图 / AI 智能体清单 / 数据 4 级分类</a:t>
            </a:r>
            <a:endParaRPr sz="10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337560" y="164592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1828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防御</a:t>
            </a:r>
            <a:endParaRPr sz="18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66160" y="22860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主动阻止威胁发生</a:t>
            </a:r>
            <a:endParaRPr sz="11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66160" y="283464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30%</a:t>
            </a:r>
            <a:r>
              <a:rPr sz="14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  →  </a:t>
            </a:r>
            <a:r>
              <a:rPr sz="26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60%</a:t>
            </a:r>
            <a:endParaRPr sz="26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566160" y="3611880"/>
            <a:ext cx="2194560" cy="201168"/>
          </a:xfrm>
          <a:prstGeom prst="rect">
            <a:avLst/>
          </a:prstGeom>
          <a:solidFill>
            <a:srgbClr val="2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3611880"/>
            <a:ext cx="1316736" cy="20116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3977639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终端 DLP / 策略引擎 / Skill 扫描 100%</a:t>
            </a:r>
            <a:endParaRPr sz="10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72200" y="164592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828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检测</a:t>
            </a:r>
            <a:endParaRPr sz="18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0" y="22860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实时发现异常行为</a:t>
            </a:r>
            <a:endParaRPr sz="11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0800" y="283464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30%</a:t>
            </a:r>
            <a:r>
              <a:rPr sz="14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  →  </a:t>
            </a:r>
            <a:r>
              <a:rPr sz="26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60%</a:t>
            </a:r>
            <a:endParaRPr sz="26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00800" y="3611880"/>
            <a:ext cx="2194560" cy="201168"/>
          </a:xfrm>
          <a:prstGeom prst="rect">
            <a:avLst/>
          </a:prstGeom>
          <a:solidFill>
            <a:srgbClr val="2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3611880"/>
            <a:ext cx="1316736" cy="20116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977639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API 实时告警 / 静态 + 动态扫描 / 行为监控</a:t>
            </a:r>
            <a:endParaRPr sz="10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006840" y="164592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1828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响应</a:t>
            </a:r>
            <a:endParaRPr sz="18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235440" y="22860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出事时快速处置</a:t>
            </a:r>
            <a:endParaRPr sz="11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235440" y="283464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20%</a:t>
            </a:r>
            <a:r>
              <a:rPr sz="14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  →  </a:t>
            </a:r>
            <a:r>
              <a:rPr sz="26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60%</a:t>
            </a:r>
            <a:endParaRPr sz="26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235440" y="3611880"/>
            <a:ext cx="2194560" cy="201168"/>
          </a:xfrm>
          <a:prstGeom prst="rect">
            <a:avLst/>
          </a:prstGeom>
          <a:solidFill>
            <a:srgbClr val="2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5440" y="3611880"/>
            <a:ext cx="1316736" cy="20116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3977639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熔断器 / Saga 补偿 / 治理报告自动化</a:t>
            </a:r>
            <a:endParaRPr sz="10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02920" y="5166360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1B224E"/>
          </a:solidFill>
          <a:ln w="15875">
            <a:solidFill>
              <a:srgbClr val="6F4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349240"/>
            <a:ext cx="6858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综合水位（四维平均）：27.5% → 60%</a:t>
            </a:r>
            <a:endParaRPr sz="18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提升 32.5 个百分点，全部基于已交付能力 · ~78% 为 DLP 全员部署 / API 全量接入完成后的预期值，列入 H2 展望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863840" y="534924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H2 目标</a:t>
            </a:r>
            <a:endParaRPr sz="1200" b="1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四维全面 ≥ 80%，综合兑现 ~78%+</a:t>
            </a:r>
            <a:endParaRPr sz="13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RISK EXPOSURE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我们防的是什么：风险敞口一页总览</a:t>
            </a:r>
            <a:endParaRPr sz="26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基于行业公开案例 + 监管处罚数据测算，仅作量级参考 · 完整推演见附录 B</a:t>
            </a:r>
            <a:endParaRPr sz="12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32918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sz="1200" b="1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AI-SEC-MID-2026  |  信息安全年中汇报 · 高管版</a:t>
            </a:r>
            <a:endParaRPr sz="9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AI 时代的威胁已经不是「黑客攻击网站」，而是「AI 被诱导、被冒用、被投毒」—— 直接打向业务核心。</a:t>
            </a:r>
            <a:endParaRPr sz="13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E03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21284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E0396B"/>
                </a:solidFill>
                <a:latin typeface="微软雅黑" panose="020B0503020204020204" charset="-122"/>
                <a:ea typeface="微软雅黑" panose="020B0503020204020204" charset="-122"/>
              </a:rPr>
              <a:t>高危威胁 1 · 提示注入</a:t>
            </a:r>
            <a:endParaRPr sz="1350" b="1">
              <a:solidFill>
                <a:srgbClr val="E039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4088" y="2606040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AI 客服被一句话诱导，泄露其他客户保单信息</a:t>
            </a:r>
            <a:endParaRPr sz="1150" b="0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4088" y="34290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0A832"/>
                </a:solidFill>
                <a:latin typeface="微软雅黑" panose="020B0503020204020204" charset="-122"/>
                <a:ea typeface="微软雅黑" panose="020B0503020204020204" charset="-122"/>
              </a:rPr>
              <a:t>→ 违反个保法：单次罚款可达营业额 5%</a:t>
            </a:r>
            <a:endParaRPr sz="1050" b="1">
              <a:solidFill>
                <a:srgbClr val="F0A8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79392" y="2057400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E03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21284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E0396B"/>
                </a:solidFill>
                <a:latin typeface="微软雅黑" panose="020B0503020204020204" charset="-122"/>
                <a:ea typeface="微软雅黑" panose="020B0503020204020204" charset="-122"/>
              </a:rPr>
              <a:t>高危威胁 2 · 工具滥用 / 越权</a:t>
            </a:r>
            <a:endParaRPr sz="1350" b="1">
              <a:solidFill>
                <a:srgbClr val="E039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80560" y="2606040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理赔 AI 被诱导篡改理赔金额、删除审计记录</a:t>
            </a:r>
            <a:endParaRPr sz="1150" b="0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80560" y="34290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0A832"/>
                </a:solidFill>
                <a:latin typeface="微软雅黑" panose="020B0503020204020204" charset="-122"/>
                <a:ea typeface="微软雅黑" panose="020B0503020204020204" charset="-122"/>
              </a:rPr>
              <a:t>→ 单笔欺诈数十万~数百万 · 牌照风险</a:t>
            </a:r>
            <a:endParaRPr sz="1050" b="1">
              <a:solidFill>
                <a:srgbClr val="F0A8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55864" y="2057400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E03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221284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E0396B"/>
                </a:solidFill>
                <a:latin typeface="微软雅黑" panose="020B0503020204020204" charset="-122"/>
                <a:ea typeface="微软雅黑" panose="020B0503020204020204" charset="-122"/>
              </a:rPr>
              <a:t>高危威胁 3 · 敏感数据泄露</a:t>
            </a:r>
            <a:endParaRPr sz="1350" b="1">
              <a:solidFill>
                <a:srgbClr val="E039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57032" y="2606040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员工用 AI 办公时，客户数据被交叉引用暴露</a:t>
            </a:r>
            <a:endParaRPr sz="1150" b="0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57032" y="34290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0A832"/>
                </a:solidFill>
                <a:latin typeface="微软雅黑" panose="020B0503020204020204" charset="-122"/>
                <a:ea typeface="微软雅黑" panose="020B0503020204020204" charset="-122"/>
              </a:rPr>
              <a:t>→ PIPL / GDPR：单事件最高数千万</a:t>
            </a:r>
            <a:endParaRPr sz="1050" b="1">
              <a:solidFill>
                <a:srgbClr val="F0A8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4251960"/>
            <a:ext cx="11155680" cy="960120"/>
          </a:xfrm>
          <a:prstGeom prst="roundRect">
            <a:avLst>
              <a:gd name="adj" fmla="val 6000"/>
            </a:avLst>
          </a:prstGeom>
          <a:solidFill>
            <a:srgbClr val="1B224E"/>
          </a:solidFill>
          <a:ln w="15875">
            <a:solidFill>
              <a:srgbClr val="E03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0740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若不持续治理：年度潜在损失 </a:t>
            </a:r>
            <a:r>
              <a:rPr sz="1600" b="1">
                <a:solidFill>
                  <a:srgbClr val="E0396B"/>
                </a:solidFill>
                <a:latin typeface="微软雅黑" panose="020B0503020204020204" charset="-122"/>
                <a:ea typeface="微软雅黑" panose="020B0503020204020204" charset="-122"/>
              </a:rPr>
              <a:t>1000-5000 万（直接）</a:t>
            </a:r>
            <a:r>
              <a:rPr sz="140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，间接商业损失（信任 / 股价 / 牌照）约为直接的 3-5 倍</a:t>
            </a:r>
            <a:endParaRPr sz="1400" b="0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H1 三大战役正是针对这些敞口建设 —— 水位每提升一分，敞口收窄一分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54406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H2 两大共性风险（需组织级关注）</a:t>
            </a:r>
            <a:endParaRPr sz="13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" y="5779008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R1 AI 攻击面扩大：新威胁出现速度超过防御建设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    应对：OpenClaw 快速迭代 + 红蓝对抗 + 跟进 OWASP/ATLAS</a:t>
            </a:r>
            <a:endParaRPr sz="105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72200" y="5779008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R2 数据跨境 / 跨域合规要求收紧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    应对：数据分级已落地 + 跨境流动可视；合规审计待优先级确认后立项</a:t>
            </a:r>
            <a:endParaRPr sz="105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H2 ROADMAP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H2 路线图：6 个里程碑，排期到 2027/Q2</a:t>
            </a:r>
            <a:endParaRPr sz="26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从「能打仗」到「打胜仗」· 全部里程碑已明确交付物与时间点</a:t>
            </a:r>
            <a:endParaRPr sz="12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32918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sz="1200" b="1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AI-SEC-MID-2026  |  信息安全年中汇报 · 高管版</a:t>
            </a:r>
            <a:endParaRPr sz="9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" y="2633472"/>
            <a:ext cx="10789920" cy="41148"/>
          </a:xfrm>
          <a:prstGeom prst="rect">
            <a:avLst/>
          </a:prstGeom>
          <a:solidFill>
            <a:srgbClr val="2A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20" y="2551176"/>
            <a:ext cx="201168" cy="201168"/>
          </a:xfrm>
          <a:prstGeom prst="ellipse">
            <a:avLst/>
          </a:prstGeom>
          <a:solidFill>
            <a:srgbClr val="00D4FF"/>
          </a:solidFill>
          <a:ln>
            <a:solidFill>
              <a:srgbClr val="0A0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803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2026 Q3</a:t>
            </a:r>
            <a:endParaRPr sz="115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DLP 灰度上线</a:t>
            </a:r>
            <a:endParaRPr sz="125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首批 100 终端</a:t>
            </a:r>
            <a:endParaRPr sz="10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3246120" y="2551176"/>
            <a:ext cx="201168" cy="201168"/>
          </a:xfrm>
          <a:prstGeom prst="ellipse">
            <a:avLst/>
          </a:prstGeom>
          <a:solidFill>
            <a:srgbClr val="00D4FF"/>
          </a:solidFill>
          <a:ln>
            <a:solidFill>
              <a:srgbClr val="0A0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55448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API 全量接入</a:t>
            </a:r>
            <a:endParaRPr sz="125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核心系统 100%</a:t>
            </a:r>
            <a:endParaRPr sz="10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14600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2026 Q3</a:t>
            </a:r>
            <a:endParaRPr sz="115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074920" y="2551176"/>
            <a:ext cx="201168" cy="201168"/>
          </a:xfrm>
          <a:prstGeom prst="ellipse">
            <a:avLst/>
          </a:prstGeom>
          <a:solidFill>
            <a:srgbClr val="6F4BFF"/>
          </a:solidFill>
          <a:ln>
            <a:solidFill>
              <a:srgbClr val="0A0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8803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6F4BFF"/>
                </a:solidFill>
                <a:latin typeface="微软雅黑" panose="020B0503020204020204" charset="-122"/>
                <a:ea typeface="微软雅黑" panose="020B0503020204020204" charset="-122"/>
              </a:rPr>
              <a:t>2026 Q4</a:t>
            </a:r>
            <a:endParaRPr sz="1150" b="1">
              <a:solidFill>
                <a:srgbClr val="6F4B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320040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DLP 全员部署</a:t>
            </a:r>
            <a:endParaRPr sz="125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1000+ 终端</a:t>
            </a:r>
            <a:endParaRPr sz="10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903720" y="2551176"/>
            <a:ext cx="201168" cy="201168"/>
          </a:xfrm>
          <a:prstGeom prst="ellipse">
            <a:avLst/>
          </a:prstGeom>
          <a:solidFill>
            <a:srgbClr val="6F4BFF"/>
          </a:solidFill>
          <a:ln>
            <a:solidFill>
              <a:srgbClr val="0A0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55448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EACP 协议演进</a:t>
            </a:r>
            <a:endParaRPr sz="125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适配更多智能体形态</a:t>
            </a:r>
            <a:endParaRPr sz="10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72200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6F4BFF"/>
                </a:solidFill>
                <a:latin typeface="微软雅黑" panose="020B0503020204020204" charset="-122"/>
                <a:ea typeface="微软雅黑" panose="020B0503020204020204" charset="-122"/>
              </a:rPr>
              <a:t>2026 Q4</a:t>
            </a:r>
            <a:endParaRPr sz="1150" b="1">
              <a:solidFill>
                <a:srgbClr val="6F4B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8732520" y="2551176"/>
            <a:ext cx="201168" cy="201168"/>
          </a:xfrm>
          <a:prstGeom prst="ellipse">
            <a:avLst/>
          </a:prstGeom>
          <a:solidFill>
            <a:srgbClr val="F0A832"/>
          </a:solidFill>
          <a:ln>
            <a:solidFill>
              <a:srgbClr val="0A0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28803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0A832"/>
                </a:solidFill>
                <a:latin typeface="微软雅黑" panose="020B0503020204020204" charset="-122"/>
                <a:ea typeface="微软雅黑" panose="020B0503020204020204" charset="-122"/>
              </a:rPr>
              <a:t>2027 Q1</a:t>
            </a:r>
            <a:endParaRPr sz="1150" b="1">
              <a:solidFill>
                <a:srgbClr val="F0A8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01000" y="320040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智能体零信任</a:t>
            </a:r>
            <a:endParaRPr sz="125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全链路 + 持续审计</a:t>
            </a:r>
            <a:endParaRPr sz="10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561320" y="2551176"/>
            <a:ext cx="201168" cy="201168"/>
          </a:xfrm>
          <a:prstGeom prst="ellipse">
            <a:avLst/>
          </a:prstGeom>
          <a:solidFill>
            <a:srgbClr val="F0A832"/>
          </a:solidFill>
          <a:ln>
            <a:solidFill>
              <a:srgbClr val="0A0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155448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AI 原生安全体系</a:t>
            </a:r>
            <a:endParaRPr sz="125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完整闭环 + 行业输出</a:t>
            </a:r>
            <a:endParaRPr sz="10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829800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0A832"/>
                </a:solidFill>
                <a:latin typeface="微软雅黑" panose="020B0503020204020204" charset="-122"/>
                <a:ea typeface="微软雅黑" panose="020B0503020204020204" charset="-122"/>
              </a:rPr>
              <a:t>2027 Q2</a:t>
            </a:r>
            <a:endParaRPr sz="1150" b="1">
              <a:solidFill>
                <a:srgbClr val="F0A8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2920" y="42976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三条战线 H2 重点</a:t>
            </a:r>
            <a:endParaRPr sz="13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02920" y="466344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477316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API 安全</a:t>
            </a:r>
            <a:endParaRPr sz="13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4088" y="5102352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全量系统分批接入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异常行为基线建模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自动溯源图谱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279392" y="466344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477316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终端 DLP</a:t>
            </a:r>
            <a:endParaRPr sz="13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480560" y="5102352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跨平台客户端（Win/Mac）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策略编排系统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灰度 → 全员部署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SIEM/SOAR 集成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055864" y="466344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2" y="477316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AI 智能体</a:t>
            </a:r>
            <a:endParaRPr sz="13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57032" y="5102352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EACP v1.0 持续演进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适配更多智能体形态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治理平台 v2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全公司智能体纳管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RESOURCE STRATEGY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资源策略：不增编、不加预算，靠 AI 杠杆</a:t>
            </a:r>
            <a:endParaRPr sz="26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公司不增编 + 不加预算 = 全部依赖 AI 智能体 + AI 辅助编程提效 —— 安全团队自己先成为 AI 原生团队</a:t>
            </a:r>
            <a:endParaRPr sz="12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32918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200" b="1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AI-SEC-MID-2026  |  信息安全年中汇报 · 高管版</a:t>
            </a:r>
            <a:endParaRPr sz="9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3611880" cy="100584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819656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AI 辅助编程</a:t>
            </a:r>
            <a:endParaRPr sz="13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4088" y="2167128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DLP 系统 88% 代码量由 AI 辅助完成 · 续写 / 重构 / 单测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279392" y="1691640"/>
            <a:ext cx="3611880" cy="100584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819656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AI 智能体编排</a:t>
            </a:r>
            <a:endParaRPr sz="13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80560" y="2167128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Agent 替团队做渗透、扫描、复盘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55864" y="1691640"/>
            <a:ext cx="3611880" cy="100584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1819656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AI 数据分析</a:t>
            </a:r>
            <a:endParaRPr sz="13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57032" y="2167128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DLP 日志 / API 流量 / 风险事件智能聚合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2834640"/>
            <a:ext cx="3611880" cy="100584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962656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AI 测试</a:t>
            </a:r>
            <a:endParaRPr sz="13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4088" y="3310128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Skill 扫描 / 渗透测试 / 漏洞复现 Agent 化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279392" y="2834640"/>
            <a:ext cx="3611880" cy="100584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962656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AI 知识库</a:t>
            </a:r>
            <a:endParaRPr sz="13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80560" y="3310128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威胁情报 / 制度库 / 案例库智能问答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055864" y="2834640"/>
            <a:ext cx="3611880" cy="100584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7032" y="2962656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AI 文档</a:t>
            </a:r>
            <a:endParaRPr sz="13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57032" y="3310128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汇报 / 制度 / 培训材料一键生成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2920" y="4206240"/>
            <a:ext cx="11155680" cy="777240"/>
          </a:xfrm>
          <a:prstGeom prst="roundRect">
            <a:avLst>
              <a:gd name="adj" fmla="val 6000"/>
            </a:avLst>
          </a:prstGeom>
          <a:solidFill>
            <a:srgbClr val="1B224E"/>
          </a:solidFill>
          <a:ln w="15875">
            <a:solidFill>
              <a:srgbClr val="2EB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37083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实证：终端 DLP 系统从零开发到 88%，核心靠 AI 辅助 —— 同等工作量传统模式约需 3 倍人力</a:t>
            </a:r>
            <a:endParaRPr sz="135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" y="5257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0A832"/>
                </a:solidFill>
                <a:latin typeface="微软雅黑" panose="020B0503020204020204" charset="-122"/>
                <a:ea typeface="微软雅黑" panose="020B0503020204020204" charset="-122"/>
              </a:rPr>
              <a:t>这个策略的代价与边界（对管理层透明）</a:t>
            </a:r>
            <a:endParaRPr sz="1300" b="1">
              <a:solidFill>
                <a:srgbClr val="F0A8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562356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▸ AI 杠杆依赖外部工具链（编码助手 / 模型服务），存在服务连续性与数据出境风险 → 已纳入 R2 合规管控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▸ 团队带宽已近饱和：H2 若新增战役级需求，需管理层在「增编」与「降优先级」之间做取舍</a:t>
            </a:r>
            <a:endParaRPr sz="11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DECISIONS REQUIRED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需要管理层决策的 3 件事</a:t>
            </a:r>
            <a:endParaRPr sz="26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本次汇报的核心诉求 —— 请委员会明确表态，H2 才能全速推进</a:t>
            </a:r>
            <a:endParaRPr sz="12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32918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sz="1200" b="1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AI-SEC-MID-2026  |  信息安全年中汇报 · 高管版</a:t>
            </a:r>
            <a:endParaRPr sz="9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11155680" cy="1481328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685800" cy="1481328"/>
          </a:xfrm>
          <a:prstGeom prst="rect">
            <a:avLst/>
          </a:prstGeom>
          <a:solidFill>
            <a:srgbClr val="6F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685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7320" y="1728216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AI 智能体强制纳管</a:t>
            </a:r>
            <a:endParaRPr sz="15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17320" y="2103120"/>
            <a:ext cx="10012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所有 AI 智能体 / Skill 上线前必须经 EACP 注册与安全扫描，未纳管不得接入公司业务系统。</a:t>
            </a:r>
            <a:endParaRPr sz="11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需要：</a:t>
            </a:r>
            <a:r>
              <a:rPr sz="110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委员会发文明确强制要求，各业务线配合整改存量。</a:t>
            </a:r>
            <a:endParaRPr sz="1100" b="0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F0A832"/>
                </a:solidFill>
                <a:latin typeface="微软雅黑" panose="020B0503020204020204" charset="-122"/>
                <a:ea typeface="微软雅黑" panose="020B0503020204020204" charset="-122"/>
              </a:rPr>
              <a:t>不做的后果：</a:t>
            </a:r>
            <a:r>
              <a:rPr sz="105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智能体裸奔，攻击面随 AI 业务增长失控（对应 R1）</a:t>
            </a:r>
            <a:endParaRPr sz="105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3227832"/>
            <a:ext cx="11155680" cy="1481328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27832"/>
            <a:ext cx="685800" cy="1481328"/>
          </a:xfrm>
          <a:prstGeom prst="rect">
            <a:avLst/>
          </a:prstGeom>
          <a:solidFill>
            <a:srgbClr val="6F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685032"/>
            <a:ext cx="685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17320" y="3355848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DLP 全员推广节奏确认</a:t>
            </a:r>
            <a:endParaRPr sz="15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17320" y="3730752"/>
            <a:ext cx="10012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Q3 灰度 100 终端 → Q4 全员 1000+ 终端。推广期会短暂影响部分员工操作习惯。</a:t>
            </a:r>
            <a:endParaRPr sz="11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需要：</a:t>
            </a:r>
            <a:r>
              <a:rPr sz="110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管理层确认推广节奏，并支持 HR / 行政配合宣导。</a:t>
            </a:r>
            <a:endParaRPr sz="1100" b="0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F0A832"/>
                </a:solidFill>
                <a:latin typeface="微软雅黑" panose="020B0503020204020204" charset="-122"/>
                <a:ea typeface="微软雅黑" panose="020B0503020204020204" charset="-122"/>
              </a:rPr>
              <a:t>不做的后果：</a:t>
            </a:r>
            <a:r>
              <a:rPr sz="105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数据出口长期敞开，内鬼 / 失误泄露敞口不收窄</a:t>
            </a:r>
            <a:endParaRPr sz="105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4855464"/>
            <a:ext cx="11155680" cy="1481328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855464"/>
            <a:ext cx="685800" cy="1481328"/>
          </a:xfrm>
          <a:prstGeom prst="rect">
            <a:avLst/>
          </a:prstGeom>
          <a:solidFill>
            <a:srgbClr val="6F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312664"/>
            <a:ext cx="685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17320" y="4983480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H2 优先级确认：饱和带宽下的取舍机制</a:t>
            </a:r>
            <a:endParaRPr sz="15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17320" y="5358384"/>
            <a:ext cx="10012680" cy="626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不增编不加预算前提下，6 个里程碑已占满团队带宽；跨境数据合规审计等需求仍在排队。</a:t>
            </a:r>
            <a:endParaRPr sz="11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需要：</a:t>
            </a:r>
            <a:r>
              <a:rPr sz="110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新增战役级需求时，委员会明确「增资源」或「置换里程碑」二选一，</a:t>
            </a:r>
            <a:r>
              <a:rPr lang="zh-CN" sz="110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信息</a:t>
            </a:r>
            <a:r>
              <a:rPr sz="110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安全部不默认承接。</a:t>
            </a:r>
            <a:endParaRPr sz="1100" b="0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F0A832"/>
                </a:solidFill>
                <a:latin typeface="微软雅黑" panose="020B0503020204020204" charset="-122"/>
                <a:ea typeface="微软雅黑" panose="020B0503020204020204" charset="-122"/>
              </a:rPr>
              <a:t>不做的后果：</a:t>
            </a:r>
            <a:r>
              <a:rPr sz="105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新需求口头插入，三大战役集体延期，~78% 综合兑现随之顺延</a:t>
            </a:r>
            <a:endParaRPr sz="105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82296" cy="2651760"/>
          </a:xfrm>
          <a:prstGeom prst="rect">
            <a:avLst/>
          </a:prstGeom>
          <a:solidFill>
            <a:srgbClr val="6F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737360"/>
            <a:ext cx="105156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36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成为 AI 原生组织的安全基石</a:t>
            </a:r>
            <a:endParaRPr sz="36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主动防御 · 智能响应 · 合规可控</a:t>
            </a:r>
            <a:endParaRPr sz="1600" b="0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406908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H1：三大战役按期交付，安全水位四维平均 27.5% → 60%，零重大事件</a:t>
            </a:r>
            <a:endParaRPr sz="1400" b="0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H2：不加人、不加钱，靠 AI 杠杆完成 6 个里程碑</a:t>
            </a:r>
            <a:endParaRPr sz="1400" b="0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目标：让每位员工放心用 AI · 让每份数据安全流转 · 让每个智能体在治理轨道上运行</a:t>
            </a:r>
            <a:endParaRPr sz="14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58521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感谢聆听 · 恳请指正        信息安全部 · 2026.07        附录：威胁详解 / 损失测算 / EACP 技术说明</a:t>
            </a:r>
            <a:endParaRPr sz="11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APPENDIX · A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附录 A：Agentic AI 十类威胁速览（OWASP ASI-01~10）</a:t>
            </a:r>
            <a:endParaRPr sz="26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供需要深入了解的委员参考 · 正文第 8 页已聚焦其中 3 类高危威胁</a:t>
            </a:r>
            <a:endParaRPr sz="12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AI-SEC-MID-2026  |  信息安全年中汇报 · 高管版</a:t>
            </a:r>
            <a:endParaRPr sz="9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32918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附录 A</a:t>
            </a:r>
            <a:endParaRPr sz="1100" b="1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2103120" cy="178308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15875">
            <a:solidFill>
              <a:srgbClr val="E03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874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E0396B"/>
                </a:solidFill>
                <a:latin typeface="微软雅黑" panose="020B0503020204020204" charset="-122"/>
                <a:ea typeface="微软雅黑" panose="020B0503020204020204" charset="-122"/>
              </a:rPr>
              <a:t>ASI-01</a:t>
            </a:r>
            <a:endParaRPr sz="1100" b="1">
              <a:solidFill>
                <a:srgbClr val="E039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512" y="221284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提示注入</a:t>
            </a:r>
            <a:endParaRPr sz="15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" y="265176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AI 客服被诱导说错话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752344" y="1737360"/>
            <a:ext cx="2103120" cy="178308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6936" y="1874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ASI-02</a:t>
            </a:r>
            <a:endParaRPr sz="1100" b="1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16936" y="221284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权限提升</a:t>
            </a:r>
            <a:endParaRPr sz="15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16936" y="265176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AI 越权访问核心数据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01768" y="1737360"/>
            <a:ext cx="2103120" cy="178308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15875">
            <a:solidFill>
              <a:srgbClr val="E03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1874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E0396B"/>
                </a:solidFill>
                <a:latin typeface="微软雅黑" panose="020B0503020204020204" charset="-122"/>
                <a:ea typeface="微软雅黑" panose="020B0503020204020204" charset="-122"/>
              </a:rPr>
              <a:t>ASI-03</a:t>
            </a:r>
            <a:endParaRPr sz="1100" b="1">
              <a:solidFill>
                <a:srgbClr val="E039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66360" y="221284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工具滥用</a:t>
            </a:r>
            <a:endParaRPr sz="15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66360" y="265176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AI 调用工具做坏事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251192" y="1737360"/>
            <a:ext cx="2103120" cy="178308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15784" y="1874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ASI-04</a:t>
            </a:r>
            <a:endParaRPr sz="1100" b="1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15784" y="221284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身份滥用</a:t>
            </a:r>
            <a:endParaRPr sz="15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15784" y="265176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假冒 AI 智能体身份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500616" y="1737360"/>
            <a:ext cx="2103120" cy="178308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65208" y="1874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ASI-05</a:t>
            </a:r>
            <a:endParaRPr sz="1100" b="1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65208" y="221284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记忆投毒</a:t>
            </a:r>
            <a:endParaRPr sz="15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65208" y="265176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AI 共享记忆被污染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02920" y="3703320"/>
            <a:ext cx="2103120" cy="178308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38404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ASI-06</a:t>
            </a:r>
            <a:endParaRPr sz="1100" b="1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7512" y="417880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级联失败</a:t>
            </a:r>
            <a:endParaRPr sz="15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7512" y="461772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一个 AI 崩溃拖垮一群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752344" y="3703320"/>
            <a:ext cx="2103120" cy="178308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16936" y="38404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ASI-07</a:t>
            </a:r>
            <a:endParaRPr sz="1100" b="1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916936" y="417880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恶意智能体</a:t>
            </a:r>
            <a:endParaRPr sz="15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916936" y="461772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恶意 AI 混入系统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001768" y="3703320"/>
            <a:ext cx="2103120" cy="178308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15875">
            <a:solidFill>
              <a:srgbClr val="E03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66360" y="38404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E0396B"/>
                </a:solidFill>
                <a:latin typeface="微软雅黑" panose="020B0503020204020204" charset="-122"/>
                <a:ea typeface="微软雅黑" panose="020B0503020204020204" charset="-122"/>
              </a:rPr>
              <a:t>ASI-08</a:t>
            </a:r>
            <a:endParaRPr sz="1100" b="1">
              <a:solidFill>
                <a:srgbClr val="E039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166360" y="417880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数据泄露</a:t>
            </a:r>
            <a:endParaRPr sz="15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166360" y="461772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AI 无意暴露客户信息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251192" y="3703320"/>
            <a:ext cx="2103120" cy="178308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15784" y="38404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ASI-09</a:t>
            </a:r>
            <a:endParaRPr sz="1100" b="1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415784" y="417880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日志不足</a:t>
            </a:r>
            <a:endParaRPr sz="15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415784" y="461772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出事后查不清楚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500616" y="3703320"/>
            <a:ext cx="2103120" cy="178308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65208" y="38404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ASI-10</a:t>
            </a:r>
            <a:endParaRPr sz="1100" b="1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665208" y="417880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不安全通信</a:t>
            </a:r>
            <a:endParaRPr sz="15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665208" y="461772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AI 之间通信被篡改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02920" y="58064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红色边框 = 高危威胁（正文第 8 页已展开业务场景与损失测算）· 其余威胁由 EACP 治理体系 + Skill 扫描统一覆盖</a:t>
            </a:r>
            <a:endParaRPr sz="11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APPENDIX · B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附录 B：年度潜在损失测算明细</a:t>
            </a:r>
            <a:endParaRPr sz="26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基于行业公开案例 + 监管处罚数据估算 · 仅作量级参考</a:t>
            </a:r>
            <a:endParaRPr sz="12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AI-SEC-MID-2026  |  信息安全年中汇报 · 高管版</a:t>
            </a:r>
            <a:endParaRPr sz="9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32918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附录 B</a:t>
            </a:r>
            <a:endParaRPr sz="1100" b="1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3611880" cy="365760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E03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90195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E0396B"/>
                </a:solidFill>
                <a:latin typeface="微软雅黑" panose="020B0503020204020204" charset="-122"/>
                <a:ea typeface="微软雅黑" panose="020B0503020204020204" charset="-122"/>
              </a:rPr>
              <a:t>直接经济损失</a:t>
            </a:r>
            <a:endParaRPr sz="1500" b="1">
              <a:solidFill>
                <a:srgbClr val="E039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4088" y="23317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保守估计 1000-5000 万 / 年</a:t>
            </a:r>
            <a:endParaRPr sz="125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4088" y="2834640"/>
            <a:ext cx="32461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个保法/PIPL 罚款：营收 5% 或 5000 万（取高）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客户理赔欺诈：单笔 5-50 万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业务中断：每小时 10-50 万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危机公关 / 法务费用：20-100 万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79392" y="1737360"/>
            <a:ext cx="3611880" cy="365760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F0A8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90195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0A832"/>
                </a:solidFill>
                <a:latin typeface="微软雅黑" panose="020B0503020204020204" charset="-122"/>
                <a:ea typeface="微软雅黑" panose="020B0503020204020204" charset="-122"/>
              </a:rPr>
              <a:t>间接商业损失</a:t>
            </a:r>
            <a:endParaRPr sz="1500" b="1">
              <a:solidFill>
                <a:srgbClr val="F0A8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80560" y="23317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约为直接损失的 3-5 倍</a:t>
            </a:r>
            <a:endParaRPr sz="125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80560" y="2834640"/>
            <a:ext cx="32461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客户信任崩塌：NPS -20 ~ -40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媒体曝光：股价短期下跌 5-15%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牌照 / 资质受限：保险、支付等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监管约谈：业务上线延迟 3-12 个月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55864" y="1737360"/>
            <a:ext cx="3611880" cy="365760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6F4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190195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6F4BFF"/>
                </a:solidFill>
                <a:latin typeface="微软雅黑" panose="020B0503020204020204" charset="-122"/>
                <a:ea typeface="微软雅黑" panose="020B0503020204020204" charset="-122"/>
              </a:rPr>
              <a:t>机会成本</a:t>
            </a:r>
            <a:endParaRPr sz="1500" b="1">
              <a:solidFill>
                <a:srgbClr val="6F4B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57032" y="23317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可能影响 AI 原生战略目标</a:t>
            </a:r>
            <a:endParaRPr sz="125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57032" y="2834640"/>
            <a:ext cx="32461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AI 项目上线延迟：损失业务先机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新业务模式无法开展：被竞品反超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国际化受阻：海外 GDPR 合规失败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· AI 原生愿景落空：公司战略延后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5760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对照：H1 三大战役建设成本（人力 + 工具）远低于上述任一单项敞口 —— 安全投入的 ROI 逻辑成立</a:t>
            </a:r>
            <a:endParaRPr sz="12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APPENDIX · C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附录 C：EACP 协议技术说明</a:t>
            </a:r>
            <a:endParaRPr sz="26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EACP = Enterprise Agent Control &amp; Governance Protocol · 企业内部 AI 智能体治理控制面协议</a:t>
            </a:r>
            <a:endParaRPr sz="12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AI-SEC-MID-2026  |  信息安全年中汇报 · 高管版</a:t>
            </a:r>
            <a:endParaRPr sz="9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32918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附录 C</a:t>
            </a:r>
            <a:endParaRPr sz="1100" b="1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Q1  是什么</a:t>
            </a:r>
            <a:endParaRPr sz="14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304288"/>
            <a:ext cx="50292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企业内部 AI 智能体的统一治理规范：16 章 · 4 级合规 · 24 错误码；控制面（治理）与执行面（业务）分离。落地 = 协议 + 插件 + 平台。</a:t>
            </a:r>
            <a:endParaRPr sz="11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72200" y="1737360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019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Q2  为什么自研</a:t>
            </a:r>
            <a:endParaRPr sz="14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0" y="2304288"/>
            <a:ext cx="50292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行业空白：MCP 是工具接入层、A2A 是互联协作层，均不覆盖企业内部治理。EACP 在两者之上叠加治理控制层，调用 MCP、增强 A2A。</a:t>
            </a:r>
            <a:endParaRPr sz="11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3886200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5079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Q3  解决什么</a:t>
            </a:r>
            <a:endParaRPr sz="14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4453128"/>
            <a:ext cx="50292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四个老问题：不知道谁在用 AI（Agent Card 身份声明）/ 不知道 AI 在干什么（任务生命周期 + 审计链）/ 不知道是否合规（策略引擎 + 阻断）/ 不知道是否失控（饱和度 + 熔断器）。</a:t>
            </a:r>
            <a:endParaRPr sz="11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72200" y="3886200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5079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Q4  落地进展</a:t>
            </a:r>
            <a:endParaRPr sz="14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4453128"/>
            <a:ext cx="50292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协议 v1.0 已发布；OpenClaw 治理插件为业内首个 EACP 实现；治理控制面 UI + 后台已上线；当前覆盖 Level 0-2 必备能力，H2 适配更多智能体形态。</a:t>
            </a:r>
            <a:endParaRPr sz="11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1264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AI 原生组织 = 智能体可治理、可审计、可观察 · EACP 是这套能力的基础设施</a:t>
            </a:r>
            <a:endParaRPr sz="1200" b="1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1" name="TextBox 2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RESULTS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02" name="TextBox 3"/>
          <p:cNvSpPr txBox="1"/>
          <p:nvPr/>
        </p:nvSpPr>
        <p:spPr>
          <a:xfrm>
            <a:off x="502920" y="53035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安全水位：四维平均提升 32.5 个百分点</a:t>
            </a:r>
            <a:endParaRPr sz="26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03" name="TextBox 4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识别 / 防御 / 检测 / 响应四维度评估 · 成果口径 = 已交付并运行中的能力，展望目标单独标注</a:t>
            </a:r>
            <a:endParaRPr sz="12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04" name="TextBox 5"/>
          <p:cNvSpPr txBox="1"/>
          <p:nvPr/>
        </p:nvSpPr>
        <p:spPr>
          <a:xfrm>
            <a:off x="10881360" y="32918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sz="1200" b="1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05" name="TextBox 6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AI-SEC-MID-2026  |  信息安全年中汇报 · 高管版</a:t>
            </a:r>
            <a:endParaRPr sz="9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06" name="Rounded Rectangle 7"/>
          <p:cNvSpPr/>
          <p:nvPr/>
        </p:nvSpPr>
        <p:spPr>
          <a:xfrm>
            <a:off x="502920" y="164592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7" name="TextBox 8"/>
          <p:cNvSpPr txBox="1"/>
          <p:nvPr/>
        </p:nvSpPr>
        <p:spPr>
          <a:xfrm>
            <a:off x="731520" y="1828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识别</a:t>
            </a:r>
            <a:endParaRPr sz="18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08" name="TextBox 9"/>
          <p:cNvSpPr txBox="1"/>
          <p:nvPr/>
        </p:nvSpPr>
        <p:spPr>
          <a:xfrm>
            <a:off x="731520" y="22860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知道有什么、谁在用</a:t>
            </a:r>
            <a:endParaRPr sz="11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09" name="TextBox 10"/>
          <p:cNvSpPr txBox="1"/>
          <p:nvPr/>
        </p:nvSpPr>
        <p:spPr>
          <a:xfrm>
            <a:off x="731520" y="283464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30%</a:t>
            </a:r>
            <a:r>
              <a:rPr sz="14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  →  </a:t>
            </a:r>
            <a:r>
              <a:rPr sz="26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60%</a:t>
            </a:r>
            <a:endParaRPr sz="26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10" name="Rectangle 11"/>
          <p:cNvSpPr/>
          <p:nvPr/>
        </p:nvSpPr>
        <p:spPr>
          <a:xfrm>
            <a:off x="731520" y="3611880"/>
            <a:ext cx="2194560" cy="201168"/>
          </a:xfrm>
          <a:prstGeom prst="rect">
            <a:avLst/>
          </a:prstGeom>
          <a:solidFill>
            <a:srgbClr val="2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1" name="Rectangle 12"/>
          <p:cNvSpPr/>
          <p:nvPr/>
        </p:nvSpPr>
        <p:spPr>
          <a:xfrm>
            <a:off x="731520" y="3611880"/>
            <a:ext cx="1316736" cy="20116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2" name="TextBox 13"/>
          <p:cNvSpPr txBox="1"/>
          <p:nvPr/>
        </p:nvSpPr>
        <p:spPr>
          <a:xfrm>
            <a:off x="731520" y="3977639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资产地图 / AI 智能体清单 / 数据 4 级分类</a:t>
            </a:r>
            <a:endParaRPr sz="10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13" name="Rounded Rectangle 14"/>
          <p:cNvSpPr/>
          <p:nvPr/>
        </p:nvSpPr>
        <p:spPr>
          <a:xfrm>
            <a:off x="3337560" y="164592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4" name="TextBox 15"/>
          <p:cNvSpPr txBox="1"/>
          <p:nvPr/>
        </p:nvSpPr>
        <p:spPr>
          <a:xfrm>
            <a:off x="3566160" y="1828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防御</a:t>
            </a:r>
            <a:endParaRPr sz="18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15" name="TextBox 16"/>
          <p:cNvSpPr txBox="1"/>
          <p:nvPr/>
        </p:nvSpPr>
        <p:spPr>
          <a:xfrm>
            <a:off x="3566160" y="22860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主动阻止威胁发生</a:t>
            </a:r>
            <a:endParaRPr sz="11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16" name="TextBox 17"/>
          <p:cNvSpPr txBox="1"/>
          <p:nvPr/>
        </p:nvSpPr>
        <p:spPr>
          <a:xfrm>
            <a:off x="3566160" y="283464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30%</a:t>
            </a:r>
            <a:r>
              <a:rPr sz="14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  →  </a:t>
            </a:r>
            <a:r>
              <a:rPr sz="26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60%</a:t>
            </a:r>
            <a:endParaRPr sz="26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17" name="Rectangle 18"/>
          <p:cNvSpPr/>
          <p:nvPr/>
        </p:nvSpPr>
        <p:spPr>
          <a:xfrm>
            <a:off x="3566160" y="3611880"/>
            <a:ext cx="2194560" cy="201168"/>
          </a:xfrm>
          <a:prstGeom prst="rect">
            <a:avLst/>
          </a:prstGeom>
          <a:solidFill>
            <a:srgbClr val="2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8" name="Rectangle 19"/>
          <p:cNvSpPr/>
          <p:nvPr/>
        </p:nvSpPr>
        <p:spPr>
          <a:xfrm>
            <a:off x="3566160" y="3611880"/>
            <a:ext cx="1316736" cy="20116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9" name="TextBox 20"/>
          <p:cNvSpPr txBox="1"/>
          <p:nvPr/>
        </p:nvSpPr>
        <p:spPr>
          <a:xfrm>
            <a:off x="3566160" y="3977639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终端 DLP / 策略引擎 / Skill 扫描 100%</a:t>
            </a:r>
            <a:endParaRPr sz="10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20" name="Rounded Rectangle 21"/>
          <p:cNvSpPr/>
          <p:nvPr/>
        </p:nvSpPr>
        <p:spPr>
          <a:xfrm>
            <a:off x="6172200" y="164592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21" name="TextBox 22"/>
          <p:cNvSpPr txBox="1"/>
          <p:nvPr/>
        </p:nvSpPr>
        <p:spPr>
          <a:xfrm>
            <a:off x="6400800" y="1828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检测</a:t>
            </a:r>
            <a:endParaRPr sz="18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22" name="TextBox 23"/>
          <p:cNvSpPr txBox="1"/>
          <p:nvPr/>
        </p:nvSpPr>
        <p:spPr>
          <a:xfrm>
            <a:off x="6400800" y="22860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实时发现异常行为</a:t>
            </a:r>
            <a:endParaRPr sz="11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23" name="TextBox 24"/>
          <p:cNvSpPr txBox="1"/>
          <p:nvPr/>
        </p:nvSpPr>
        <p:spPr>
          <a:xfrm>
            <a:off x="6400800" y="283464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30%</a:t>
            </a:r>
            <a:r>
              <a:rPr sz="14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  →  </a:t>
            </a:r>
            <a:r>
              <a:rPr sz="26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60%</a:t>
            </a:r>
            <a:endParaRPr sz="26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24" name="Rectangle 25"/>
          <p:cNvSpPr/>
          <p:nvPr/>
        </p:nvSpPr>
        <p:spPr>
          <a:xfrm>
            <a:off x="6400800" y="3611880"/>
            <a:ext cx="2194560" cy="201168"/>
          </a:xfrm>
          <a:prstGeom prst="rect">
            <a:avLst/>
          </a:prstGeom>
          <a:solidFill>
            <a:srgbClr val="2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25" name="Rectangle 26"/>
          <p:cNvSpPr/>
          <p:nvPr/>
        </p:nvSpPr>
        <p:spPr>
          <a:xfrm>
            <a:off x="6400800" y="3611880"/>
            <a:ext cx="1316736" cy="20116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26" name="TextBox 27"/>
          <p:cNvSpPr txBox="1"/>
          <p:nvPr/>
        </p:nvSpPr>
        <p:spPr>
          <a:xfrm>
            <a:off x="6400800" y="3977639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API 实时告警 / 静态 + 动态扫描 / 行为监控</a:t>
            </a:r>
            <a:endParaRPr sz="10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27" name="Rounded Rectangle 28"/>
          <p:cNvSpPr/>
          <p:nvPr/>
        </p:nvSpPr>
        <p:spPr>
          <a:xfrm>
            <a:off x="9006840" y="164592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14193D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28" name="TextBox 29"/>
          <p:cNvSpPr txBox="1"/>
          <p:nvPr/>
        </p:nvSpPr>
        <p:spPr>
          <a:xfrm>
            <a:off x="9235440" y="1828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响应</a:t>
            </a:r>
            <a:endParaRPr sz="18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29" name="TextBox 30"/>
          <p:cNvSpPr txBox="1"/>
          <p:nvPr/>
        </p:nvSpPr>
        <p:spPr>
          <a:xfrm>
            <a:off x="9235440" y="22860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出事时快速处置</a:t>
            </a:r>
            <a:endParaRPr sz="1100" b="0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30" name="TextBox 31"/>
          <p:cNvSpPr txBox="1"/>
          <p:nvPr/>
        </p:nvSpPr>
        <p:spPr>
          <a:xfrm>
            <a:off x="9235440" y="283464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20%</a:t>
            </a:r>
            <a:r>
              <a:rPr sz="1400" b="0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  →  </a:t>
            </a:r>
            <a:r>
              <a:rPr sz="26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60%</a:t>
            </a:r>
            <a:endParaRPr sz="26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31" name="Rectangle 32"/>
          <p:cNvSpPr/>
          <p:nvPr/>
        </p:nvSpPr>
        <p:spPr>
          <a:xfrm>
            <a:off x="9235440" y="3611880"/>
            <a:ext cx="2194560" cy="201168"/>
          </a:xfrm>
          <a:prstGeom prst="rect">
            <a:avLst/>
          </a:prstGeom>
          <a:solidFill>
            <a:srgbClr val="2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32" name="Rectangle 33"/>
          <p:cNvSpPr/>
          <p:nvPr/>
        </p:nvSpPr>
        <p:spPr>
          <a:xfrm>
            <a:off x="9235440" y="3611880"/>
            <a:ext cx="1316736" cy="20116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33" name="TextBox 34"/>
          <p:cNvSpPr txBox="1"/>
          <p:nvPr/>
        </p:nvSpPr>
        <p:spPr>
          <a:xfrm>
            <a:off x="9235440" y="3977639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熔断器 / Saga 补偿 / 治理报告自动化</a:t>
            </a:r>
            <a:endParaRPr sz="100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34" name="Rounded Rectangle 35"/>
          <p:cNvSpPr/>
          <p:nvPr/>
        </p:nvSpPr>
        <p:spPr>
          <a:xfrm>
            <a:off x="502920" y="5166360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1B224E"/>
          </a:solidFill>
          <a:ln w="15875">
            <a:solidFill>
              <a:srgbClr val="6F4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35" name="TextBox 36"/>
          <p:cNvSpPr txBox="1"/>
          <p:nvPr/>
        </p:nvSpPr>
        <p:spPr>
          <a:xfrm>
            <a:off x="777240" y="5349240"/>
            <a:ext cx="6858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2F4FA"/>
                </a:solidFill>
                <a:latin typeface="微软雅黑" panose="020B0503020204020204" charset="-122"/>
                <a:ea typeface="微软雅黑" panose="020B0503020204020204" charset="-122"/>
              </a:rPr>
              <a:t>综合水位（四维平均）：27.5% → 60%</a:t>
            </a:r>
            <a:endParaRPr sz="1800" b="1">
              <a:solidFill>
                <a:srgbClr val="F2F4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B8C2D9"/>
                </a:solidFill>
                <a:latin typeface="微软雅黑" panose="020B0503020204020204" charset="-122"/>
                <a:ea typeface="微软雅黑" panose="020B0503020204020204" charset="-122"/>
              </a:rPr>
              <a:t>提升 32.5 个百分点，全部基于已交付能力 · ~78% 为 DLP 全员部署 / API 全量接入完成后的预期值，列入 H2 展望</a:t>
            </a:r>
            <a:endParaRPr sz="1050" b="0">
              <a:solidFill>
                <a:srgbClr val="B8C2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36" name="TextBox 37"/>
          <p:cNvSpPr txBox="1"/>
          <p:nvPr/>
        </p:nvSpPr>
        <p:spPr>
          <a:xfrm>
            <a:off x="7863840" y="534924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6B7788"/>
                </a:solidFill>
                <a:latin typeface="微软雅黑" panose="020B0503020204020204" charset="-122"/>
                <a:ea typeface="微软雅黑" panose="020B0503020204020204" charset="-122"/>
              </a:rPr>
              <a:t>H2 目标</a:t>
            </a:r>
            <a:endParaRPr sz="1200" b="1">
              <a:solidFill>
                <a:srgbClr val="6B778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四维全面 ≥ 80%，综合兑现 ~78%+</a:t>
            </a:r>
            <a:endParaRPr sz="13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6506</Words>
  <Application>WPS 演示</Application>
  <PresentationFormat>On-screen Show (4:3)</PresentationFormat>
  <Paragraphs>652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甲子-洪岩</cp:lastModifiedBy>
  <cp:revision>5</cp:revision>
  <dcterms:created xsi:type="dcterms:W3CDTF">2013-01-27T09:14:00Z</dcterms:created>
  <dcterms:modified xsi:type="dcterms:W3CDTF">2026-08-31T08:41:45Z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49901896401347ABB5C8DEF764F99C0F_13</vt:lpwstr>
  </property>
  <property fmtid="{D5CDD505-2E9C-101B-9397-08002B2CF9AE}" pid="3" name="KSOProductBuildVer">
    <vt:lpwstr>2052-12.8.2.21177</vt:lpwstr>
  </property>
</Properties>
</file>